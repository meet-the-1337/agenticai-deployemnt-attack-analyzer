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10B981"/>
            </a:solidFill>
            <a:ln w="0">
              <a:noFill/>
            </a:ln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ln w="0"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rgbClr val="8B5CF6"/>
              </a:solidFill>
              <a:ln w="0">
                <a:noFill/>
              </a:ln>
            </c:spPr>
          </c:dPt>
          <c:dLbls>
            <c:dLbl>
              <c:idx val="0"/>
              <c:numFmt formatCode="#,##0" sourceLinked="0"/>
              <c:spPr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rgbClr val="F8FAFC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numFmt formatCode="#,##0" sourceLinked="0"/>
              <c:spPr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rgbClr val="F8FAFC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numFmt formatCode="#,##0" sourceLinked="0"/>
              <c:spPr/>
              <c:txPr>
                <a:bodyPr wrap="square"/>
                <a:lstStyle/>
                <a:p>
                  <a:pPr>
                    <a:defRPr sz="1000" b="1" u="none" strike="noStrike">
                      <a:solidFill>
                        <a:srgbClr val="F8FAFC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1"/>
              <c:extLst>
                <c:ext xmlns:c15="http://schemas.microsoft.com/office/drawing/2012/chart" uri="{CE6537A1-D6FC-4f65-9D91-7224C49458BB}"/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000" b="1" u="none" strike="noStrike">
                    <a:solidFill>
                      <a:srgbClr val="F8FAFC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3"/>
                <c:pt idx="0">
                  <c:v>Binary F1</c:v>
                </c:pt>
                <c:pt idx="1">
                  <c:v>Outcome F1</c:v>
                </c:pt>
                <c:pt idx="2">
                  <c:v>Type F1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3"/>
                <c:pt idx="0">
                  <c:v>0.98040000000000005</c:v>
                </c:pt>
                <c:pt idx="1">
                  <c:v>0.98089999999999999</c:v>
                </c:pt>
                <c:pt idx="2">
                  <c:v>0.78639999999999999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A8-AD4A-908F-AC0F5CC49A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2958190"/>
        <c:axId val="65378035"/>
      </c:barChart>
      <c:catAx>
        <c:axId val="2295819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94A3B8"/>
                </a:solidFill>
                <a:uFillTx/>
                <a:latin typeface="Arial"/>
              </a:defRPr>
            </a:pPr>
            <a:endParaRPr lang="en-US"/>
          </a:p>
        </c:txPr>
        <c:crossAx val="65378035"/>
        <c:crosses val="autoZero"/>
        <c:auto val="1"/>
        <c:lblAlgn val="ctr"/>
        <c:lblOffset val="100"/>
        <c:noMultiLvlLbl val="0"/>
      </c:catAx>
      <c:valAx>
        <c:axId val="65378035"/>
        <c:scaling>
          <c:orientation val="minMax"/>
          <c:max val="1"/>
          <c:min val="0"/>
        </c:scaling>
        <c:delete val="0"/>
        <c:axPos val="l"/>
        <c:majorGridlines>
          <c:spPr>
            <a:ln w="6480">
              <a:solidFill>
                <a:srgbClr val="475569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94A3B8"/>
                </a:solidFill>
                <a:uFillTx/>
                <a:latin typeface="Arial"/>
              </a:defRPr>
            </a:pPr>
            <a:endParaRPr lang="en-US"/>
          </a:p>
        </c:txPr>
        <c:crossAx val="22958190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  <c:showDLblsOverMax val="1"/>
  </c:chart>
  <c:spPr>
    <a:solidFill>
      <a:srgbClr val="111827"/>
    </a:solidFill>
    <a:ln w="0"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3657A4E-CED0-4C92-B22D-CEF7BE37233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Opening slide. Introduce ReconMind as a platform that automatically attacks, labels, and learns from agentic AI system behavior. Key stat: 0.98 F1 for attack detection.</a:t>
            </a:r>
          </a:p>
        </p:txBody>
      </p:sp>
      <p:sp>
        <p:nvSpPr>
          <p:cNvPr id="18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BF6015-635F-4086-B4B8-5FAE21B05C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Walk through each paper briefly. The key insight: prior work either lacks automation, lacks behavioral ground truth, or doesn't model multi-agent pipelines. We found and fixed all three.</a:t>
            </a:r>
          </a:p>
        </p:txBody>
      </p:sp>
      <p:sp>
        <p:nvSpPr>
          <p:cNvPr id="18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D859F7-9E54-4C36-BA48-ED9D82F5153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Explain each layer: the target platform is a real LangGraph pipeline. The attack framework automatically injects 4 attack types. The oracle labels by behavior. The BiLSTM trains on those behavioral labels.</a:t>
            </a:r>
          </a:p>
        </p:txBody>
      </p:sp>
      <p:sp>
        <p:nvSpPr>
          <p:cNvPr id="18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3EE3DD-9CDC-4A75-99AD-7E78848122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Type F1 of 0.7864 is the honest number — we caught a 1.0 score from payload leakage and fixed it. The critical finding about mode-conditioned labeling is the research contribution. Explain the orange scenario.</a:t>
            </a:r>
          </a:p>
        </p:txBody>
      </p:sp>
      <p:sp>
        <p:nvSpPr>
          <p:cNvPr id="19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7D92448-1757-4264-B327-B5DED6A402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Phase 1 is actionable today — reach out to 3-5 AI startups with the free audit offer. The pitch is simple: we attack your system, you see the report, you decide if you need ongoing monitoring.</a:t>
            </a:r>
          </a:p>
        </p:txBody>
      </p:sp>
      <p:sp>
        <p:nvSpPr>
          <p:cNvPr id="19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7F4458-E597-4A38-AA4D-7D86C3CD2D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5669280" y="-1371600"/>
            <a:ext cx="6400440" cy="6400440"/>
          </a:xfrm>
          <a:prstGeom prst="ellipse">
            <a:avLst/>
          </a:prstGeom>
          <a:solidFill>
            <a:srgbClr val="1E2761">
              <a:alpha val="25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6858000" y="-457200"/>
            <a:ext cx="3657240" cy="365724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4000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0" descr="preencoded.png"/>
          <p:cNvPicPr/>
          <p:nvPr/>
        </p:nvPicPr>
        <p:blipFill>
          <a:blip r:embed="rId3"/>
          <a:stretch/>
        </p:blipFill>
        <p:spPr>
          <a:xfrm>
            <a:off x="502920" y="457200"/>
            <a:ext cx="594000" cy="594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Text 2"/>
          <p:cNvSpPr/>
          <p:nvPr/>
        </p:nvSpPr>
        <p:spPr>
          <a:xfrm>
            <a:off x="1188720" y="50292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 spc="300">
                <a:solidFill>
                  <a:srgbClr val="06B6D4"/>
                </a:solidFill>
                <a:effectLst/>
                <a:uFillTx/>
                <a:latin typeface="Calibri"/>
              </a:rPr>
              <a:t>BLOCKHOPPERS  ·  TIET PATIALA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1143360"/>
            <a:ext cx="50292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Automated Attack-Defense Evaluation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6B6D4"/>
                </a:solidFill>
                <a:effectLst/>
                <a:uFillTx/>
                <a:latin typeface="Calibri"/>
                <a:ea typeface="Calibri"/>
              </a:rPr>
              <a:t>for Agentic AI Systems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457200" y="2057400"/>
            <a:ext cx="5212080" cy="0"/>
          </a:xfrm>
          <a:prstGeom prst="line">
            <a:avLst/>
          </a:prstGeom>
          <a:ln w="254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5000" rIns="90000" bIns="-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57200" y="4399920"/>
            <a:ext cx="640044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End-to-End Agentic AI Security Platform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366120" y="2286000"/>
            <a:ext cx="1919880" cy="63972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1E3A5F"/>
            </a:solidFill>
            <a:round/>
          </a:ln>
          <a:effectLst>
            <a:outerShdw blurRad="101520" dist="37674" dir="27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366120" y="233208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0.98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366120" y="265176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Binary F1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2514600" y="2267640"/>
            <a:ext cx="1919880" cy="639720"/>
          </a:xfrm>
          <a:prstGeom prst="roundRect">
            <a:avLst>
              <a:gd name="adj" fmla="val 11429"/>
            </a:avLst>
          </a:prstGeom>
          <a:solidFill>
            <a:srgbClr val="111827"/>
          </a:solidFill>
          <a:ln w="12700">
            <a:solidFill>
              <a:srgbClr val="1E3A5F"/>
            </a:solidFill>
            <a:round/>
          </a:ln>
          <a:effectLst>
            <a:outerShdw blurRad="101520" dist="37674" dir="27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2514600" y="2332080"/>
            <a:ext cx="1919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510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2514600" y="265176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Attack Runs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6"/>
          <p:cNvSpPr/>
          <p:nvPr/>
        </p:nvSpPr>
        <p:spPr>
          <a:xfrm>
            <a:off x="7315200" y="914400"/>
            <a:ext cx="1599840" cy="594000"/>
          </a:xfrm>
          <a:prstGeom prst="roundRect">
            <a:avLst>
              <a:gd name="adj" fmla="val 12308"/>
            </a:avLst>
          </a:prstGeom>
          <a:solidFill>
            <a:srgbClr val="2563EB">
              <a:alpha val="30000"/>
            </a:srgbClr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7315200" y="1051560"/>
            <a:ext cx="1599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User Input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8115120" y="1508760"/>
            <a:ext cx="360" cy="228600"/>
          </a:xfrm>
          <a:prstGeom prst="line">
            <a:avLst/>
          </a:prstGeom>
          <a:ln w="1905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9"/>
          <p:cNvSpPr/>
          <p:nvPr/>
        </p:nvSpPr>
        <p:spPr>
          <a:xfrm>
            <a:off x="7315200" y="1737360"/>
            <a:ext cx="1599840" cy="594000"/>
          </a:xfrm>
          <a:prstGeom prst="roundRect">
            <a:avLst>
              <a:gd name="adj" fmla="val 12308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7315200" y="1874520"/>
            <a:ext cx="1599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Intake Agent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21"/>
          <p:cNvSpPr/>
          <p:nvPr/>
        </p:nvSpPr>
        <p:spPr>
          <a:xfrm>
            <a:off x="8115120" y="2331720"/>
            <a:ext cx="360" cy="228600"/>
          </a:xfrm>
          <a:prstGeom prst="line">
            <a:avLst/>
          </a:prstGeom>
          <a:ln w="1905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7315200" y="2560320"/>
            <a:ext cx="1599840" cy="594000"/>
          </a:xfrm>
          <a:prstGeom prst="roundRect">
            <a:avLst>
              <a:gd name="adj" fmla="val 12308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06B6D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7315200" y="2697480"/>
            <a:ext cx="1599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Retrieval Agent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4"/>
          <p:cNvSpPr/>
          <p:nvPr/>
        </p:nvSpPr>
        <p:spPr>
          <a:xfrm>
            <a:off x="8115120" y="3154680"/>
            <a:ext cx="360" cy="228600"/>
          </a:xfrm>
          <a:prstGeom prst="line">
            <a:avLst/>
          </a:prstGeom>
          <a:ln w="1905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7315200" y="3383280"/>
            <a:ext cx="1599840" cy="594000"/>
          </a:xfrm>
          <a:prstGeom prst="roundRect">
            <a:avLst>
              <a:gd name="adj" fmla="val 12308"/>
            </a:avLst>
          </a:prstGeom>
          <a:solidFill>
            <a:srgbClr val="EF4444">
              <a:alpha val="30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6"/>
          <p:cNvSpPr/>
          <p:nvPr/>
        </p:nvSpPr>
        <p:spPr>
          <a:xfrm>
            <a:off x="7315200" y="3520440"/>
            <a:ext cx="1599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Action Agent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7"/>
          <p:cNvSpPr/>
          <p:nvPr/>
        </p:nvSpPr>
        <p:spPr>
          <a:xfrm>
            <a:off x="7132320" y="594360"/>
            <a:ext cx="19656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 spc="99">
                <a:solidFill>
                  <a:srgbClr val="475569"/>
                </a:solidFill>
                <a:effectLst/>
                <a:uFillTx/>
                <a:latin typeface="Calibri"/>
              </a:rPr>
              <a:t>Attack Pipeline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9"/>
          <p:cNvSpPr/>
          <p:nvPr/>
        </p:nvSpPr>
        <p:spPr>
          <a:xfrm>
            <a:off x="2514960" y="2651760"/>
            <a:ext cx="1919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Attack Runs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51"/>
          <p:cNvSpPr/>
          <p:nvPr/>
        </p:nvSpPr>
        <p:spPr>
          <a:xfrm>
            <a:off x="468720" y="4639680"/>
            <a:ext cx="640044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Attack • Observe • Verify • Learn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52"/>
          <p:cNvSpPr/>
          <p:nvPr/>
        </p:nvSpPr>
        <p:spPr>
          <a:xfrm>
            <a:off x="468360" y="3749400"/>
            <a:ext cx="494388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 b="1" u="none" strike="noStrike">
                <a:solidFill>
                  <a:srgbClr val="2A6099"/>
                </a:solidFill>
                <a:effectLst/>
                <a:uFillTx/>
                <a:latin typeface="DejaVu Sans"/>
                <a:ea typeface="DejaVu Sans"/>
              </a:rPr>
              <a:t>°</a:t>
            </a:r>
            <a:r>
              <a:rPr lang="en-US" sz="1400" b="1" u="none" strike="noStrike">
                <a:solidFill>
                  <a:srgbClr val="2A6099"/>
                </a:solidFill>
                <a:effectLst/>
                <a:uFillTx/>
                <a:latin typeface="Calibri"/>
                <a:ea typeface="Noto Sans CJK SC"/>
              </a:rPr>
              <a:t>Direct Prompt Injection                                                       </a:t>
            </a:r>
            <a:r>
              <a:rPr lang="en-US" sz="1400" b="1" u="none" strike="noStrike">
                <a:solidFill>
                  <a:srgbClr val="2A6099"/>
                </a:solidFill>
                <a:effectLst/>
                <a:uFillTx/>
                <a:latin typeface="DejaVu Sans"/>
                <a:ea typeface="DejaVu Sans"/>
              </a:rPr>
              <a:t>°</a:t>
            </a:r>
            <a:r>
              <a:rPr lang="en-US" sz="1400" b="1" u="none" strike="noStrike">
                <a:solidFill>
                  <a:srgbClr val="2A6099"/>
                </a:solidFill>
                <a:effectLst/>
                <a:uFillTx/>
                <a:latin typeface="Calibri"/>
                <a:ea typeface="Noto Sans CJK SC"/>
              </a:rPr>
              <a:t>Indirect Prompt Injection                                                         </a:t>
            </a:r>
            <a:r>
              <a:rPr lang="en-US" sz="1400" b="1" u="none" strike="noStrike">
                <a:solidFill>
                  <a:srgbClr val="2A6099"/>
                </a:solidFill>
                <a:effectLst/>
                <a:uFillTx/>
                <a:latin typeface="DejaVu Sans"/>
                <a:ea typeface="DejaVu Sans"/>
              </a:rPr>
              <a:t>°</a:t>
            </a:r>
            <a:r>
              <a:rPr lang="en-US" sz="1400" b="1" u="none" strike="noStrike">
                <a:solidFill>
                  <a:srgbClr val="2A6099"/>
                </a:solidFill>
                <a:effectLst/>
                <a:uFillTx/>
                <a:latin typeface="Calibri"/>
                <a:ea typeface="Noto Sans CJK SC"/>
              </a:rPr>
              <a:t>Memory Poisoning Tool Misuse                                             </a:t>
            </a:r>
            <a:r>
              <a:rPr lang="en-US" sz="1400" b="1" u="none" strike="noStrike">
                <a:solidFill>
                  <a:srgbClr val="2A6099"/>
                </a:solidFill>
                <a:effectLst/>
                <a:uFillTx/>
                <a:latin typeface="DejaVu Sans"/>
                <a:ea typeface="DejaVu Sans"/>
              </a:rPr>
              <a:t>°</a:t>
            </a:r>
            <a:r>
              <a:rPr lang="en-US" sz="1400" b="1" u="none" strike="noStrike">
                <a:solidFill>
                  <a:srgbClr val="2A6099"/>
                </a:solidFill>
                <a:effectLst/>
                <a:uFillTx/>
                <a:latin typeface="Calibri"/>
              </a:rPr>
              <a:t>Privilege Escalation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53"/>
          <p:cNvSpPr/>
          <p:nvPr/>
        </p:nvSpPr>
        <p:spPr>
          <a:xfrm>
            <a:off x="469080" y="4640040"/>
            <a:ext cx="640044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Attack • Observe • Verify • Learn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54"/>
          <p:cNvSpPr/>
          <p:nvPr/>
        </p:nvSpPr>
        <p:spPr>
          <a:xfrm>
            <a:off x="469080" y="4640040"/>
            <a:ext cx="640044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Attack • Observe • Verify • Learn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457200" y="2743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300">
                <a:solidFill>
                  <a:srgbClr val="06B6D4"/>
                </a:solidFill>
                <a:effectLst/>
                <a:uFillTx/>
                <a:latin typeface="Calibri"/>
              </a:rPr>
              <a:t>MOTIVATION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457200" y="548640"/>
            <a:ext cx="64004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Cambria"/>
                <a:ea typeface="Cambria"/>
              </a:rPr>
              <a:t>Why Existing Security Tools Fail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8FAFC"/>
                </a:solidFill>
                <a:effectLst/>
                <a:uFillTx/>
                <a:latin typeface="Cambria"/>
                <a:ea typeface="Cambria"/>
              </a:rPr>
              <a:t>for Agentic AI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"/>
          <p:cNvSpPr/>
          <p:nvPr/>
        </p:nvSpPr>
        <p:spPr>
          <a:xfrm>
            <a:off x="457200" y="1691640"/>
            <a:ext cx="4937400" cy="932400"/>
          </a:xfrm>
          <a:prstGeom prst="roundRect">
            <a:avLst>
              <a:gd name="adj" fmla="val 7843"/>
            </a:avLst>
          </a:prstGeom>
          <a:solidFill>
            <a:srgbClr val="111827"/>
          </a:solidFill>
          <a:ln w="12700">
            <a:solidFill>
              <a:srgbClr val="1E3A5F"/>
            </a:solidFill>
            <a:round/>
          </a:ln>
          <a:effectLst>
            <a:outerShdw blurRad="101520" dist="37674" dir="27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3"/>
          <p:cNvSpPr/>
          <p:nvPr/>
        </p:nvSpPr>
        <p:spPr>
          <a:xfrm>
            <a:off x="640080" y="176472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AgentSentry (2024)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640080" y="202068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Proposes LLM-as-judge defense for prompt injection. No automated evaluation framework. Tested on 3 hand-crafted examples.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5"/>
          <p:cNvSpPr/>
          <p:nvPr/>
        </p:nvSpPr>
        <p:spPr>
          <a:xfrm>
            <a:off x="640080" y="2368440"/>
            <a:ext cx="2559960" cy="182520"/>
          </a:xfrm>
          <a:prstGeom prst="roundRect">
            <a:avLst>
              <a:gd name="adj" fmla="val 20000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6"/>
          <p:cNvSpPr/>
          <p:nvPr/>
        </p:nvSpPr>
        <p:spPr>
          <a:xfrm>
            <a:off x="640080" y="236844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Gap: No scalable dataset generation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7"/>
          <p:cNvSpPr/>
          <p:nvPr/>
        </p:nvSpPr>
        <p:spPr>
          <a:xfrm>
            <a:off x="457200" y="2743200"/>
            <a:ext cx="4937400" cy="932400"/>
          </a:xfrm>
          <a:prstGeom prst="roundRect">
            <a:avLst>
              <a:gd name="adj" fmla="val 7843"/>
            </a:avLst>
          </a:prstGeom>
          <a:solidFill>
            <a:srgbClr val="111827"/>
          </a:solidFill>
          <a:ln w="12700">
            <a:solidFill>
              <a:srgbClr val="1E3A5F"/>
            </a:solidFill>
            <a:round/>
          </a:ln>
          <a:effectLst>
            <a:outerShdw blurRad="101520" dist="37674" dir="27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8"/>
          <p:cNvSpPr/>
          <p:nvPr/>
        </p:nvSpPr>
        <p:spPr>
          <a:xfrm>
            <a:off x="640080" y="281628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IPIGuard (2024)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9"/>
          <p:cNvSpPr/>
          <p:nvPr/>
        </p:nvSpPr>
        <p:spPr>
          <a:xfrm>
            <a:off x="640080" y="307224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Heuristic pattern filter for indirect injection. Brittle against paraphrased attacks. Evaluated only in static settings.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10"/>
          <p:cNvSpPr/>
          <p:nvPr/>
        </p:nvSpPr>
        <p:spPr>
          <a:xfrm>
            <a:off x="640080" y="3420000"/>
            <a:ext cx="2559960" cy="182520"/>
          </a:xfrm>
          <a:prstGeom prst="roundRect">
            <a:avLst>
              <a:gd name="adj" fmla="val 20000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1"/>
          <p:cNvSpPr/>
          <p:nvPr/>
        </p:nvSpPr>
        <p:spPr>
          <a:xfrm>
            <a:off x="640080" y="342000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Gap: No behavioral ground truth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2"/>
          <p:cNvSpPr/>
          <p:nvPr/>
        </p:nvSpPr>
        <p:spPr>
          <a:xfrm>
            <a:off x="457200" y="3794760"/>
            <a:ext cx="4937400" cy="932400"/>
          </a:xfrm>
          <a:prstGeom prst="roundRect">
            <a:avLst>
              <a:gd name="adj" fmla="val 7843"/>
            </a:avLst>
          </a:prstGeom>
          <a:solidFill>
            <a:srgbClr val="111827"/>
          </a:solidFill>
          <a:ln w="12700">
            <a:solidFill>
              <a:srgbClr val="1E3A5F"/>
            </a:solidFill>
            <a:round/>
          </a:ln>
          <a:effectLst>
            <a:outerShdw blurRad="101520" dist="37674" dir="27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3"/>
          <p:cNvSpPr/>
          <p:nvPr/>
        </p:nvSpPr>
        <p:spPr>
          <a:xfrm>
            <a:off x="640080" y="386784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InjectBench (2023)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4"/>
          <p:cNvSpPr/>
          <p:nvPr/>
        </p:nvSpPr>
        <p:spPr>
          <a:xfrm>
            <a:off x="640080" y="4123800"/>
            <a:ext cx="45716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Benchmark for single-turn prompt injection. Does not model multi-hop agent pipelines or memory poisoning vectors.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15"/>
          <p:cNvSpPr/>
          <p:nvPr/>
        </p:nvSpPr>
        <p:spPr>
          <a:xfrm>
            <a:off x="640080" y="4471560"/>
            <a:ext cx="2559960" cy="182520"/>
          </a:xfrm>
          <a:prstGeom prst="roundRect">
            <a:avLst>
              <a:gd name="adj" fmla="val 20000"/>
            </a:avLst>
          </a:prstGeom>
          <a:solidFill>
            <a:srgbClr val="EF4444">
              <a:alpha val="25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6"/>
          <p:cNvSpPr/>
          <p:nvPr/>
        </p:nvSpPr>
        <p:spPr>
          <a:xfrm>
            <a:off x="640080" y="447156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Gap: No multi-agent topology support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17"/>
          <p:cNvSpPr/>
          <p:nvPr/>
        </p:nvSpPr>
        <p:spPr>
          <a:xfrm>
            <a:off x="5669280" y="1600200"/>
            <a:ext cx="3017160" cy="3200040"/>
          </a:xfrm>
          <a:prstGeom prst="roundRect">
            <a:avLst>
              <a:gd name="adj" fmla="val 3030"/>
            </a:avLst>
          </a:prstGeom>
          <a:solidFill>
            <a:srgbClr val="1A2235"/>
          </a:solidFill>
          <a:ln w="12700">
            <a:solidFill>
              <a:srgbClr val="2563EB"/>
            </a:solidFill>
            <a:round/>
          </a:ln>
          <a:effectLst>
            <a:outerShdw blurRad="152280" dist="50402" dir="2700000" algn="bl" rotWithShape="0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8"/>
          <p:cNvSpPr/>
          <p:nvPr/>
        </p:nvSpPr>
        <p:spPr>
          <a:xfrm>
            <a:off x="5760720" y="171900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The Gap We Found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9"/>
          <p:cNvSpPr/>
          <p:nvPr/>
        </p:nvSpPr>
        <p:spPr>
          <a:xfrm>
            <a:off x="5806440" y="2304360"/>
            <a:ext cx="255600" cy="2556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0"/>
          <p:cNvSpPr/>
          <p:nvPr/>
        </p:nvSpPr>
        <p:spPr>
          <a:xfrm>
            <a:off x="5806440" y="230436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1"/>
          <p:cNvSpPr/>
          <p:nvPr/>
        </p:nvSpPr>
        <p:spPr>
          <a:xfrm>
            <a:off x="6144840" y="226764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No automated multi-agent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attack framework exists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22"/>
          <p:cNvSpPr/>
          <p:nvPr/>
        </p:nvSpPr>
        <p:spPr>
          <a:xfrm>
            <a:off x="5806440" y="2962800"/>
            <a:ext cx="255600" cy="2556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3"/>
          <p:cNvSpPr/>
          <p:nvPr/>
        </p:nvSpPr>
        <p:spPr>
          <a:xfrm>
            <a:off x="5806440" y="296280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4"/>
          <p:cNvSpPr/>
          <p:nvPr/>
        </p:nvSpPr>
        <p:spPr>
          <a:xfrm>
            <a:off x="6144840" y="292608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Ground truth labeling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requires manual effort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5"/>
          <p:cNvSpPr/>
          <p:nvPr/>
        </p:nvSpPr>
        <p:spPr>
          <a:xfrm>
            <a:off x="5806440" y="3620880"/>
            <a:ext cx="255600" cy="2556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6"/>
          <p:cNvSpPr/>
          <p:nvPr/>
        </p:nvSpPr>
        <p:spPr>
          <a:xfrm>
            <a:off x="5806440" y="362088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3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7"/>
          <p:cNvSpPr/>
          <p:nvPr/>
        </p:nvSpPr>
        <p:spPr>
          <a:xfrm>
            <a:off x="6144840" y="358452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Mode-conditioned bias: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labeling by intent not behavior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8"/>
          <p:cNvSpPr/>
          <p:nvPr/>
        </p:nvSpPr>
        <p:spPr>
          <a:xfrm>
            <a:off x="5806440" y="4279320"/>
            <a:ext cx="255600" cy="25560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9"/>
          <p:cNvSpPr/>
          <p:nvPr/>
        </p:nvSpPr>
        <p:spPr>
          <a:xfrm>
            <a:off x="5806440" y="4279320"/>
            <a:ext cx="25560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0"/>
          <p:cNvSpPr/>
          <p:nvPr/>
        </p:nvSpPr>
        <p:spPr>
          <a:xfrm>
            <a:off x="6144840" y="4242960"/>
            <a:ext cx="2422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No behavioral ML detector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trained on execution traces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/>
          <p:nvPr/>
        </p:nvSpPr>
        <p:spPr>
          <a:xfrm>
            <a:off x="457200" y="2286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300">
                <a:solidFill>
                  <a:srgbClr val="06B6D4"/>
                </a:solidFill>
                <a:effectLst/>
                <a:uFillTx/>
                <a:latin typeface="Calibri"/>
              </a:rPr>
              <a:t>ARCHITECTURE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"/>
          <p:cNvSpPr/>
          <p:nvPr/>
        </p:nvSpPr>
        <p:spPr>
          <a:xfrm>
            <a:off x="457200" y="4755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8FAFC"/>
                </a:solidFill>
                <a:effectLst/>
                <a:uFillTx/>
                <a:latin typeface="Cambria"/>
                <a:ea typeface="Cambria"/>
              </a:rPr>
              <a:t>Three-Layer Platform Design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457200" y="1170360"/>
            <a:ext cx="3200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201">
                <a:solidFill>
                  <a:srgbClr val="06B6D4"/>
                </a:solidFill>
                <a:effectLst/>
                <a:uFillTx/>
                <a:latin typeface="Calibri"/>
              </a:rPr>
              <a:t>LAYER 1 — TARGET PLATFORM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"/>
          <p:cNvSpPr/>
          <p:nvPr/>
        </p:nvSpPr>
        <p:spPr>
          <a:xfrm>
            <a:off x="457200" y="148140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2563EB">
              <a:alpha val="28000"/>
            </a:srgbClr>
          </a:solidFill>
          <a:ln w="12700">
            <a:solidFill>
              <a:srgbClr val="2563EB"/>
            </a:solidFill>
            <a:round/>
          </a:ln>
          <a:effectLst>
            <a:outerShdw blurRad="101520" dist="37674" dir="27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457200" y="155448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Intake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Agent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5"/>
          <p:cNvSpPr/>
          <p:nvPr/>
        </p:nvSpPr>
        <p:spPr>
          <a:xfrm>
            <a:off x="1627560" y="1869840"/>
            <a:ext cx="612720" cy="360"/>
          </a:xfrm>
          <a:prstGeom prst="line">
            <a:avLst/>
          </a:prstGeom>
          <a:ln w="1905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6"/>
          <p:cNvSpPr/>
          <p:nvPr/>
        </p:nvSpPr>
        <p:spPr>
          <a:xfrm>
            <a:off x="1783080" y="148140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06B6D4">
              <a:alpha val="28000"/>
            </a:srgbClr>
          </a:solidFill>
          <a:ln w="12700">
            <a:solidFill>
              <a:srgbClr val="06B6D4"/>
            </a:solidFill>
            <a:round/>
          </a:ln>
          <a:effectLst>
            <a:outerShdw blurRad="101520" dist="37674" dir="27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7"/>
          <p:cNvSpPr/>
          <p:nvPr/>
        </p:nvSpPr>
        <p:spPr>
          <a:xfrm>
            <a:off x="1783080" y="155448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Retrieval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Agent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8"/>
          <p:cNvSpPr/>
          <p:nvPr/>
        </p:nvSpPr>
        <p:spPr>
          <a:xfrm>
            <a:off x="2953440" y="1869840"/>
            <a:ext cx="612720" cy="360"/>
          </a:xfrm>
          <a:prstGeom prst="line">
            <a:avLst/>
          </a:prstGeom>
          <a:ln w="1905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9"/>
          <p:cNvSpPr/>
          <p:nvPr/>
        </p:nvSpPr>
        <p:spPr>
          <a:xfrm>
            <a:off x="3108960" y="148140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F97316">
              <a:alpha val="28000"/>
            </a:srgbClr>
          </a:solidFill>
          <a:ln w="12700">
            <a:solidFill>
              <a:srgbClr val="F97316"/>
            </a:solidFill>
            <a:round/>
          </a:ln>
          <a:effectLst>
            <a:outerShdw blurRad="101520" dist="37674" dir="27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0"/>
          <p:cNvSpPr/>
          <p:nvPr/>
        </p:nvSpPr>
        <p:spPr>
          <a:xfrm>
            <a:off x="3108960" y="155448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Action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Agent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1"/>
          <p:cNvSpPr/>
          <p:nvPr/>
        </p:nvSpPr>
        <p:spPr>
          <a:xfrm>
            <a:off x="4279320" y="1869840"/>
            <a:ext cx="612720" cy="360"/>
          </a:xfrm>
          <a:prstGeom prst="line">
            <a:avLst/>
          </a:prstGeom>
          <a:ln w="1905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2"/>
          <p:cNvSpPr/>
          <p:nvPr/>
        </p:nvSpPr>
        <p:spPr>
          <a:xfrm>
            <a:off x="4434840" y="148140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8B5CF6">
              <a:alpha val="28000"/>
            </a:srgbClr>
          </a:solidFill>
          <a:ln w="12700">
            <a:solidFill>
              <a:srgbClr val="8B5CF6"/>
            </a:solidFill>
            <a:round/>
          </a:ln>
          <a:effectLst>
            <a:outerShdw blurRad="101520" dist="37674" dir="27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3"/>
          <p:cNvSpPr/>
          <p:nvPr/>
        </p:nvSpPr>
        <p:spPr>
          <a:xfrm>
            <a:off x="4434840" y="155448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Memory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Store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4"/>
          <p:cNvSpPr/>
          <p:nvPr/>
        </p:nvSpPr>
        <p:spPr>
          <a:xfrm>
            <a:off x="457200" y="242316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201">
                <a:solidFill>
                  <a:srgbClr val="EF4444"/>
                </a:solidFill>
                <a:effectLst/>
                <a:uFillTx/>
                <a:latin typeface="Calibri"/>
              </a:rPr>
              <a:t>LAYER 2 — ATTACK FRAMEWORK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5"/>
          <p:cNvSpPr/>
          <p:nvPr/>
        </p:nvSpPr>
        <p:spPr>
          <a:xfrm>
            <a:off x="457200" y="272484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6"/>
          <p:cNvSpPr/>
          <p:nvPr/>
        </p:nvSpPr>
        <p:spPr>
          <a:xfrm>
            <a:off x="457200" y="279792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Direct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Injection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7"/>
          <p:cNvSpPr/>
          <p:nvPr/>
        </p:nvSpPr>
        <p:spPr>
          <a:xfrm>
            <a:off x="1783080" y="272484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8"/>
          <p:cNvSpPr/>
          <p:nvPr/>
        </p:nvSpPr>
        <p:spPr>
          <a:xfrm>
            <a:off x="1783080" y="279792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Indirect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Injection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9"/>
          <p:cNvSpPr/>
          <p:nvPr/>
        </p:nvSpPr>
        <p:spPr>
          <a:xfrm>
            <a:off x="3108960" y="272484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20"/>
          <p:cNvSpPr/>
          <p:nvPr/>
        </p:nvSpPr>
        <p:spPr>
          <a:xfrm>
            <a:off x="3108960" y="279792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Memory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Poisoning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21"/>
          <p:cNvSpPr/>
          <p:nvPr/>
        </p:nvSpPr>
        <p:spPr>
          <a:xfrm>
            <a:off x="4434840" y="272484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EF4444">
              <a:alpha val="22000"/>
            </a:srgbClr>
          </a:solidFill>
          <a:ln w="127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2"/>
          <p:cNvSpPr/>
          <p:nvPr/>
        </p:nvSpPr>
        <p:spPr>
          <a:xfrm>
            <a:off x="4434840" y="279792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Tool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Misuse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3"/>
          <p:cNvSpPr/>
          <p:nvPr/>
        </p:nvSpPr>
        <p:spPr>
          <a:xfrm>
            <a:off x="2779560" y="2258280"/>
            <a:ext cx="360" cy="466560"/>
          </a:xfrm>
          <a:prstGeom prst="line">
            <a:avLst/>
          </a:prstGeom>
          <a:ln w="25400">
            <a:solidFill>
              <a:srgbClr val="EF444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4"/>
          <p:cNvSpPr/>
          <p:nvPr/>
        </p:nvSpPr>
        <p:spPr>
          <a:xfrm>
            <a:off x="2103120" y="233172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injects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5"/>
          <p:cNvSpPr/>
          <p:nvPr/>
        </p:nvSpPr>
        <p:spPr>
          <a:xfrm>
            <a:off x="457200" y="365760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 spc="201">
                <a:solidFill>
                  <a:srgbClr val="8B5CF6"/>
                </a:solidFill>
                <a:effectLst/>
                <a:uFillTx/>
                <a:latin typeface="Calibri"/>
              </a:rPr>
              <a:t>LAYER 3 — VERIFICATION &amp; ML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6"/>
          <p:cNvSpPr/>
          <p:nvPr/>
        </p:nvSpPr>
        <p:spPr>
          <a:xfrm>
            <a:off x="457200" y="395028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10B981">
              <a:alpha val="28000"/>
            </a:srgbClr>
          </a:solidFill>
          <a:ln w="12700">
            <a:solidFill>
              <a:srgbClr val="10B981"/>
            </a:solidFill>
            <a:round/>
          </a:ln>
          <a:effectLst>
            <a:outerShdw blurRad="101520" dist="37674" dir="27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7"/>
          <p:cNvSpPr/>
          <p:nvPr/>
        </p:nvSpPr>
        <p:spPr>
          <a:xfrm>
            <a:off x="457200" y="402336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3-Tier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Oracle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8"/>
          <p:cNvSpPr/>
          <p:nvPr/>
        </p:nvSpPr>
        <p:spPr>
          <a:xfrm>
            <a:off x="1627560" y="4338720"/>
            <a:ext cx="612720" cy="360"/>
          </a:xfrm>
          <a:prstGeom prst="line">
            <a:avLst/>
          </a:prstGeom>
          <a:ln w="1905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29"/>
          <p:cNvSpPr/>
          <p:nvPr/>
        </p:nvSpPr>
        <p:spPr>
          <a:xfrm>
            <a:off x="1783080" y="395028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2563EB">
              <a:alpha val="28000"/>
            </a:srgbClr>
          </a:solidFill>
          <a:ln w="12700">
            <a:solidFill>
              <a:srgbClr val="2563EB"/>
            </a:solidFill>
            <a:round/>
          </a:ln>
          <a:effectLst>
            <a:outerShdw blurRad="101520" dist="37674" dir="27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0"/>
          <p:cNvSpPr/>
          <p:nvPr/>
        </p:nvSpPr>
        <p:spPr>
          <a:xfrm>
            <a:off x="1783080" y="402336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Labeled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Dataset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1"/>
          <p:cNvSpPr/>
          <p:nvPr/>
        </p:nvSpPr>
        <p:spPr>
          <a:xfrm>
            <a:off x="2953440" y="4338720"/>
            <a:ext cx="612720" cy="360"/>
          </a:xfrm>
          <a:prstGeom prst="line">
            <a:avLst/>
          </a:prstGeom>
          <a:ln w="1905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32"/>
          <p:cNvSpPr/>
          <p:nvPr/>
        </p:nvSpPr>
        <p:spPr>
          <a:xfrm>
            <a:off x="3108960" y="395028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8B5CF6">
              <a:alpha val="28000"/>
            </a:srgbClr>
          </a:solidFill>
          <a:ln w="12700">
            <a:solidFill>
              <a:srgbClr val="8B5CF6"/>
            </a:solidFill>
            <a:round/>
          </a:ln>
          <a:effectLst>
            <a:outerShdw blurRad="101520" dist="37674" dir="27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3"/>
          <p:cNvSpPr/>
          <p:nvPr/>
        </p:nvSpPr>
        <p:spPr>
          <a:xfrm>
            <a:off x="3108960" y="402336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BiLSTM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Model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34"/>
          <p:cNvSpPr/>
          <p:nvPr/>
        </p:nvSpPr>
        <p:spPr>
          <a:xfrm>
            <a:off x="4279320" y="4338720"/>
            <a:ext cx="612720" cy="360"/>
          </a:xfrm>
          <a:prstGeom prst="line">
            <a:avLst/>
          </a:prstGeom>
          <a:ln w="19050">
            <a:solidFill>
              <a:srgbClr val="4755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35"/>
          <p:cNvSpPr/>
          <p:nvPr/>
        </p:nvSpPr>
        <p:spPr>
          <a:xfrm>
            <a:off x="4434840" y="3950280"/>
            <a:ext cx="1170000" cy="776880"/>
          </a:xfrm>
          <a:prstGeom prst="roundRect">
            <a:avLst>
              <a:gd name="adj" fmla="val 9412"/>
            </a:avLst>
          </a:prstGeom>
          <a:solidFill>
            <a:srgbClr val="06B6D4">
              <a:alpha val="28000"/>
            </a:srgbClr>
          </a:solidFill>
          <a:ln w="12700">
            <a:solidFill>
              <a:srgbClr val="06B6D4"/>
            </a:solidFill>
            <a:round/>
          </a:ln>
          <a:effectLst>
            <a:outerShdw blurRad="101520" dist="37674" dir="27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36"/>
          <p:cNvSpPr/>
          <p:nvPr/>
        </p:nvSpPr>
        <p:spPr>
          <a:xfrm>
            <a:off x="4434840" y="4023360"/>
            <a:ext cx="1170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Live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Predictor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37"/>
          <p:cNvSpPr/>
          <p:nvPr/>
        </p:nvSpPr>
        <p:spPr>
          <a:xfrm>
            <a:off x="1042200" y="3502080"/>
            <a:ext cx="360" cy="447840"/>
          </a:xfrm>
          <a:prstGeom prst="line">
            <a:avLst/>
          </a:prstGeom>
          <a:ln w="254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8"/>
          <p:cNvSpPr/>
          <p:nvPr/>
        </p:nvSpPr>
        <p:spPr>
          <a:xfrm>
            <a:off x="365760" y="35571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i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traces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39"/>
          <p:cNvSpPr/>
          <p:nvPr/>
        </p:nvSpPr>
        <p:spPr>
          <a:xfrm>
            <a:off x="5943600" y="1170360"/>
            <a:ext cx="2788560" cy="3657240"/>
          </a:xfrm>
          <a:prstGeom prst="roundRect">
            <a:avLst>
              <a:gd name="adj" fmla="val 3279"/>
            </a:avLst>
          </a:prstGeom>
          <a:solidFill>
            <a:srgbClr val="111827"/>
          </a:solidFill>
          <a:ln w="12700">
            <a:solidFill>
              <a:srgbClr val="1E3A5F"/>
            </a:solidFill>
            <a:round/>
          </a:ln>
          <a:effectLst>
            <a:outerShdw blurRad="152280" dist="50402" dir="2700000" algn="bl" rotWithShape="0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0"/>
          <p:cNvSpPr/>
          <p:nvPr/>
        </p:nvSpPr>
        <p:spPr>
          <a:xfrm>
            <a:off x="6035040" y="1298520"/>
            <a:ext cx="26056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Key Design Decisions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41"/>
          <p:cNvSpPr/>
          <p:nvPr/>
        </p:nvSpPr>
        <p:spPr>
          <a:xfrm>
            <a:off x="6126480" y="175572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Behavioral Oracle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42"/>
          <p:cNvSpPr/>
          <p:nvPr/>
        </p:nvSpPr>
        <p:spPr>
          <a:xfrm>
            <a:off x="6126480" y="197496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Labels from agent actions, not submission mode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43"/>
          <p:cNvSpPr/>
          <p:nvPr/>
        </p:nvSpPr>
        <p:spPr>
          <a:xfrm>
            <a:off x="6126480" y="233172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3-Tier Verification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44"/>
          <p:cNvSpPr/>
          <p:nvPr/>
        </p:nvSpPr>
        <p:spPr>
          <a:xfrm>
            <a:off x="6126480" y="255132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Rule → Memory diff → LLM judge fallback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5"/>
          <p:cNvSpPr/>
          <p:nvPr/>
        </p:nvSpPr>
        <p:spPr>
          <a:xfrm>
            <a:off x="6126480" y="290772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Leakage-Free Training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6"/>
          <p:cNvSpPr/>
          <p:nvPr/>
        </p:nvSpPr>
        <p:spPr>
          <a:xfrm>
            <a:off x="6126480" y="312732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Output-only embeddings, not raw payloads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47"/>
          <p:cNvSpPr/>
          <p:nvPr/>
        </p:nvSpPr>
        <p:spPr>
          <a:xfrm>
            <a:off x="6126480" y="348372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Multi-Task Learning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8"/>
          <p:cNvSpPr/>
          <p:nvPr/>
        </p:nvSpPr>
        <p:spPr>
          <a:xfrm>
            <a:off x="6126480" y="370332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Binary + Outcome + Type in one model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49"/>
          <p:cNvSpPr/>
          <p:nvPr/>
        </p:nvSpPr>
        <p:spPr>
          <a:xfrm>
            <a:off x="6126480" y="4060080"/>
            <a:ext cx="2514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Diverse Payloads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50"/>
          <p:cNvSpPr/>
          <p:nvPr/>
        </p:nvSpPr>
        <p:spPr>
          <a:xfrm>
            <a:off x="6126480" y="4279320"/>
            <a:ext cx="251424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60 benign prompts × 5 payload variants each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0"/>
          <p:cNvSpPr/>
          <p:nvPr/>
        </p:nvSpPr>
        <p:spPr>
          <a:xfrm>
            <a:off x="457200" y="2286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300">
                <a:solidFill>
                  <a:srgbClr val="06B6D4"/>
                </a:solidFill>
                <a:effectLst/>
                <a:uFillTx/>
                <a:latin typeface="Calibri"/>
              </a:rPr>
              <a:t>RESULTS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"/>
          <p:cNvSpPr/>
          <p:nvPr/>
        </p:nvSpPr>
        <p:spPr>
          <a:xfrm>
            <a:off x="457200" y="4755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8FAFC"/>
                </a:solidFill>
                <a:effectLst/>
                <a:uFillTx/>
                <a:latin typeface="Cambria"/>
                <a:ea typeface="Cambria"/>
              </a:rPr>
              <a:t>Model Performance &amp; Critical Finding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4"/>
          <p:cNvSpPr/>
          <p:nvPr/>
        </p:nvSpPr>
        <p:spPr>
          <a:xfrm>
            <a:off x="6711840" y="1234440"/>
            <a:ext cx="1828440" cy="1188360"/>
          </a:xfrm>
          <a:prstGeom prst="roundRect">
            <a:avLst>
              <a:gd name="adj" fmla="val 7692"/>
            </a:avLst>
          </a:prstGeom>
          <a:solidFill>
            <a:srgbClr val="111827"/>
          </a:solidFill>
          <a:ln w="12700">
            <a:solidFill>
              <a:srgbClr val="8B5CF6"/>
            </a:solidFill>
            <a:round/>
          </a:ln>
          <a:effectLst>
            <a:outerShdw blurRad="101520" dist="37674" dir="27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5"/>
          <p:cNvSpPr/>
          <p:nvPr/>
        </p:nvSpPr>
        <p:spPr>
          <a:xfrm>
            <a:off x="6711840" y="132588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8B5CF6"/>
                </a:solidFill>
                <a:effectLst/>
                <a:uFillTx/>
                <a:latin typeface="Cambria"/>
                <a:ea typeface="Cambria"/>
              </a:rPr>
              <a:t>0.7864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6711840" y="185616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Type F1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7"/>
          <p:cNvSpPr/>
          <p:nvPr/>
        </p:nvSpPr>
        <p:spPr>
          <a:xfrm>
            <a:off x="6711840" y="2103120"/>
            <a:ext cx="182844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Genuine generalization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8" name="Chart 0"/>
          <p:cNvGraphicFramePr/>
          <p:nvPr/>
        </p:nvGraphicFramePr>
        <p:xfrm>
          <a:off x="228960" y="2971800"/>
          <a:ext cx="4571640" cy="2057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9" name="Text 18"/>
          <p:cNvSpPr/>
          <p:nvPr/>
        </p:nvSpPr>
        <p:spPr>
          <a:xfrm>
            <a:off x="457200" y="4572000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Model F1 Scores (Test Set)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9"/>
          <p:cNvSpPr/>
          <p:nvPr/>
        </p:nvSpPr>
        <p:spPr>
          <a:xfrm>
            <a:off x="5257800" y="1234800"/>
            <a:ext cx="3337200" cy="3565800"/>
          </a:xfrm>
          <a:prstGeom prst="roundRect">
            <a:avLst>
              <a:gd name="adj" fmla="val 2740"/>
            </a:avLst>
          </a:prstGeom>
          <a:solidFill>
            <a:srgbClr val="1A2235"/>
          </a:solidFill>
          <a:ln w="12700">
            <a:solidFill>
              <a:srgbClr val="F97316"/>
            </a:solidFill>
            <a:round/>
          </a:ln>
          <a:effectLst>
            <a:outerShdw blurRad="152280" dist="50402" dir="2700000" algn="bl" rotWithShape="0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0"/>
          <p:cNvSpPr/>
          <p:nvPr/>
        </p:nvSpPr>
        <p:spPr>
          <a:xfrm>
            <a:off x="5440680" y="1353240"/>
            <a:ext cx="315432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97316"/>
                </a:solidFill>
                <a:effectLst/>
                <a:uFillTx/>
                <a:latin typeface="Calibri"/>
              </a:rPr>
              <a:t>⚡  Critical Discovery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1"/>
          <p:cNvSpPr/>
          <p:nvPr/>
        </p:nvSpPr>
        <p:spPr>
          <a:xfrm>
            <a:off x="5440680" y="171900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Mode-Conditioned Labeling Bias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2"/>
          <p:cNvSpPr/>
          <p:nvPr/>
        </p:nvSpPr>
        <p:spPr>
          <a:xfrm>
            <a:off x="5440680" y="2084760"/>
            <a:ext cx="315432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We discovered that labeling runs by </a:t>
            </a:r>
            <a:r>
              <a:rPr lang="en-US" sz="95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submission mode</a:t>
            </a: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 (not observed behavior) creates a systematic blind spot.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A real attacker submits through clean traffic. The oracle said </a:t>
            </a:r>
            <a:r>
              <a:rPr lang="en-US" sz="95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CLEAN</a:t>
            </a: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. The ML model said </a:t>
            </a:r>
            <a:r>
              <a:rPr lang="en-US" sz="95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CLEAN</a:t>
            </a: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. But </a:t>
            </a:r>
            <a:r>
              <a:rPr lang="en-US" sz="950" b="1" u="none" strike="noStrike">
                <a:solidFill>
                  <a:srgbClr val="EF4444"/>
                </a:solidFill>
                <a:effectLst/>
                <a:uFillTx/>
                <a:latin typeface="Calibri"/>
              </a:rPr>
              <a:t>escalate_to_admin was called.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23"/>
          <p:cNvSpPr/>
          <p:nvPr/>
        </p:nvSpPr>
        <p:spPr>
          <a:xfrm>
            <a:off x="7017840" y="3547800"/>
            <a:ext cx="360" cy="274320"/>
          </a:xfrm>
          <a:prstGeom prst="line">
            <a:avLst/>
          </a:prstGeom>
          <a:ln w="254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24"/>
          <p:cNvSpPr/>
          <p:nvPr/>
        </p:nvSpPr>
        <p:spPr>
          <a:xfrm>
            <a:off x="5440680" y="3840480"/>
            <a:ext cx="31543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0B981"/>
                </a:solidFill>
                <a:effectLst/>
                <a:uFillTx/>
                <a:latin typeface="Calibri"/>
              </a:rPr>
              <a:t>FIX: Behavioral Oracle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25"/>
          <p:cNvSpPr/>
          <p:nvPr/>
        </p:nvSpPr>
        <p:spPr>
          <a:xfrm>
            <a:off x="5440680" y="4114800"/>
            <a:ext cx="31543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Run verification on EVERY execution.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Label by what the agent DID, not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how the request was submitted.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0"/>
          <p:cNvSpPr/>
          <p:nvPr/>
        </p:nvSpPr>
        <p:spPr>
          <a:xfrm>
            <a:off x="6858000" y="2286000"/>
            <a:ext cx="4571640" cy="4571640"/>
          </a:xfrm>
          <a:prstGeom prst="ellipse">
            <a:avLst/>
          </a:prstGeom>
          <a:solidFill>
            <a:srgbClr val="1E2761">
              <a:alpha val="20000"/>
            </a:srgbClr>
          </a:solidFill>
          <a:ln w="12700">
            <a:solidFill>
              <a:srgbClr val="1E3A5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"/>
          <p:cNvSpPr/>
          <p:nvPr/>
        </p:nvSpPr>
        <p:spPr>
          <a:xfrm>
            <a:off x="457200" y="22860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 spc="300">
                <a:solidFill>
                  <a:srgbClr val="06B6D4"/>
                </a:solidFill>
                <a:effectLst/>
                <a:uFillTx/>
                <a:latin typeface="Calibri"/>
              </a:rPr>
              <a:t>ROADMAP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"/>
          <p:cNvSpPr/>
          <p:nvPr/>
        </p:nvSpPr>
        <p:spPr>
          <a:xfrm>
            <a:off x="457200" y="47556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8FAFC"/>
                </a:solidFill>
                <a:effectLst/>
                <a:uFillTx/>
                <a:latin typeface="Cambria"/>
                <a:ea typeface="Cambria"/>
              </a:rPr>
              <a:t>Deployment &amp; Scaling Vision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3"/>
          <p:cNvSpPr/>
          <p:nvPr/>
        </p:nvSpPr>
        <p:spPr>
          <a:xfrm>
            <a:off x="457200" y="1234440"/>
            <a:ext cx="5120280" cy="1115280"/>
          </a:xfrm>
          <a:prstGeom prst="roundRect">
            <a:avLst>
              <a:gd name="adj" fmla="val 6557"/>
            </a:avLst>
          </a:prstGeom>
          <a:solidFill>
            <a:srgbClr val="111827"/>
          </a:solidFill>
          <a:ln w="12700">
            <a:solidFill>
              <a:srgbClr val="10B981"/>
            </a:solidFill>
            <a:round/>
          </a:ln>
          <a:effectLst>
            <a:outerShdw blurRad="101520" dist="37674" dir="27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4"/>
          <p:cNvSpPr/>
          <p:nvPr/>
        </p:nvSpPr>
        <p:spPr>
          <a:xfrm>
            <a:off x="567000" y="1325880"/>
            <a:ext cx="1371240" cy="228240"/>
          </a:xfrm>
          <a:prstGeom prst="roundRect">
            <a:avLst>
              <a:gd name="adj" fmla="val 16000"/>
            </a:avLst>
          </a:prstGeom>
          <a:solidFill>
            <a:srgbClr val="10B981">
              <a:alpha val="35000"/>
            </a:srgbClr>
          </a:solidFill>
          <a:ln w="12700">
            <a:solidFill>
              <a:srgbClr val="10B98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5"/>
          <p:cNvSpPr/>
          <p:nvPr/>
        </p:nvSpPr>
        <p:spPr>
          <a:xfrm>
            <a:off x="567000" y="132588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Phase 1 — NOW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6"/>
          <p:cNvSpPr/>
          <p:nvPr/>
        </p:nvSpPr>
        <p:spPr>
          <a:xfrm>
            <a:off x="2030040" y="132588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Consulting &amp; Audit Service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640080" y="165492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Deploy against any agentic AI pipeline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8"/>
          <p:cNvSpPr/>
          <p:nvPr/>
        </p:nvSpPr>
        <p:spPr>
          <a:xfrm>
            <a:off x="640080" y="191124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Run 200+ automated attack campaigns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9"/>
          <p:cNvSpPr/>
          <p:nvPr/>
        </p:nvSpPr>
        <p:spPr>
          <a:xfrm>
            <a:off x="2926080" y="165492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Deliver PDF security audit report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0"/>
          <p:cNvSpPr/>
          <p:nvPr/>
        </p:nvSpPr>
        <p:spPr>
          <a:xfrm>
            <a:off x="2926080" y="191124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Risk score + remediation recommendations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1"/>
          <p:cNvSpPr/>
          <p:nvPr/>
        </p:nvSpPr>
        <p:spPr>
          <a:xfrm>
            <a:off x="457200" y="2468880"/>
            <a:ext cx="5120280" cy="1115280"/>
          </a:xfrm>
          <a:prstGeom prst="roundRect">
            <a:avLst>
              <a:gd name="adj" fmla="val 6557"/>
            </a:avLst>
          </a:prstGeom>
          <a:solidFill>
            <a:srgbClr val="111827"/>
          </a:solidFill>
          <a:ln w="12700">
            <a:solidFill>
              <a:srgbClr val="2563EB"/>
            </a:solidFill>
            <a:round/>
          </a:ln>
          <a:effectLst>
            <a:outerShdw blurRad="101520" dist="37674" dir="27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2"/>
          <p:cNvSpPr/>
          <p:nvPr/>
        </p:nvSpPr>
        <p:spPr>
          <a:xfrm>
            <a:off x="567000" y="2560320"/>
            <a:ext cx="1371240" cy="228240"/>
          </a:xfrm>
          <a:prstGeom prst="roundRect">
            <a:avLst>
              <a:gd name="adj" fmla="val 16000"/>
            </a:avLst>
          </a:prstGeom>
          <a:solidFill>
            <a:srgbClr val="2563EB">
              <a:alpha val="35000"/>
            </a:srgbClr>
          </a:solidFill>
          <a:ln w="12700">
            <a:solidFill>
              <a:srgbClr val="2563E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3"/>
          <p:cNvSpPr/>
          <p:nvPr/>
        </p:nvSpPr>
        <p:spPr>
          <a:xfrm>
            <a:off x="567000" y="256032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Phase 2 — 3 Months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4"/>
          <p:cNvSpPr/>
          <p:nvPr/>
        </p:nvSpPr>
        <p:spPr>
          <a:xfrm>
            <a:off x="2030040" y="256032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SaaS Platform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5"/>
          <p:cNvSpPr/>
          <p:nvPr/>
        </p:nvSpPr>
        <p:spPr>
          <a:xfrm>
            <a:off x="640080" y="288936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Self-serve attack campaign dashboard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6"/>
          <p:cNvSpPr/>
          <p:nvPr/>
        </p:nvSpPr>
        <p:spPr>
          <a:xfrm>
            <a:off x="640080" y="314568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Continuous monitoring via API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7"/>
          <p:cNvSpPr/>
          <p:nvPr/>
        </p:nvSpPr>
        <p:spPr>
          <a:xfrm>
            <a:off x="2926080" y="288936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Quarterly re-audit subscriptions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8"/>
          <p:cNvSpPr/>
          <p:nvPr/>
        </p:nvSpPr>
        <p:spPr>
          <a:xfrm>
            <a:off x="2926080" y="314568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Custom attack type library per client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19"/>
          <p:cNvSpPr/>
          <p:nvPr/>
        </p:nvSpPr>
        <p:spPr>
          <a:xfrm>
            <a:off x="457200" y="3703320"/>
            <a:ext cx="5120280" cy="1115280"/>
          </a:xfrm>
          <a:prstGeom prst="roundRect">
            <a:avLst>
              <a:gd name="adj" fmla="val 6557"/>
            </a:avLst>
          </a:prstGeom>
          <a:solidFill>
            <a:srgbClr val="111827"/>
          </a:solidFill>
          <a:ln w="12700">
            <a:solidFill>
              <a:srgbClr val="8B5CF6"/>
            </a:solidFill>
            <a:round/>
          </a:ln>
          <a:effectLst>
            <a:outerShdw blurRad="101520" dist="37674" dir="2700000" algn="bl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0"/>
          <p:cNvSpPr/>
          <p:nvPr/>
        </p:nvSpPr>
        <p:spPr>
          <a:xfrm>
            <a:off x="567000" y="3794760"/>
            <a:ext cx="1371240" cy="228240"/>
          </a:xfrm>
          <a:prstGeom prst="roundRect">
            <a:avLst>
              <a:gd name="adj" fmla="val 16000"/>
            </a:avLst>
          </a:prstGeom>
          <a:solidFill>
            <a:srgbClr val="8B5CF6">
              <a:alpha val="35000"/>
            </a:srgbClr>
          </a:solidFill>
          <a:ln w="12700">
            <a:solidFill>
              <a:srgbClr val="8B5CF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1"/>
          <p:cNvSpPr/>
          <p:nvPr/>
        </p:nvSpPr>
        <p:spPr>
          <a:xfrm>
            <a:off x="567000" y="37947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Phase 3 — 12 Months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2"/>
          <p:cNvSpPr/>
          <p:nvPr/>
        </p:nvSpPr>
        <p:spPr>
          <a:xfrm>
            <a:off x="2030040" y="3794760"/>
            <a:ext cx="3428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Enterprise + Research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3"/>
          <p:cNvSpPr/>
          <p:nvPr/>
        </p:nvSpPr>
        <p:spPr>
          <a:xfrm>
            <a:off x="640080" y="412380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Multi-topology graph agent support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4"/>
          <p:cNvSpPr/>
          <p:nvPr/>
        </p:nvSpPr>
        <p:spPr>
          <a:xfrm>
            <a:off x="640080" y="4380120"/>
            <a:ext cx="228564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Cross-LLM benchmarking (GPT-4, Claude)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5"/>
          <p:cNvSpPr/>
          <p:nvPr/>
        </p:nvSpPr>
        <p:spPr>
          <a:xfrm>
            <a:off x="2926080" y="412380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Real-time blocking defense layer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6"/>
          <p:cNvSpPr/>
          <p:nvPr/>
        </p:nvSpPr>
        <p:spPr>
          <a:xfrm>
            <a:off x="2926080" y="4380120"/>
            <a:ext cx="2559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• Published benchmark &amp; open dataset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27"/>
          <p:cNvSpPr/>
          <p:nvPr/>
        </p:nvSpPr>
        <p:spPr>
          <a:xfrm>
            <a:off x="5897880" y="1234440"/>
            <a:ext cx="2788560" cy="1572480"/>
          </a:xfrm>
          <a:prstGeom prst="roundRect">
            <a:avLst>
              <a:gd name="adj" fmla="val 5814"/>
            </a:avLst>
          </a:prstGeom>
          <a:solidFill>
            <a:srgbClr val="111827"/>
          </a:solidFill>
          <a:ln w="12700">
            <a:solidFill>
              <a:srgbClr val="06B6D4"/>
            </a:solidFill>
            <a:round/>
          </a:ln>
          <a:effectLst>
            <a:outerShdw blurRad="152280" dist="50402" dir="2700000" algn="bl" rotWithShape="0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8"/>
          <p:cNvSpPr/>
          <p:nvPr/>
        </p:nvSpPr>
        <p:spPr>
          <a:xfrm>
            <a:off x="5989320" y="135324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6B6D4"/>
                </a:solidFill>
                <a:effectLst/>
                <a:uFillTx/>
                <a:latin typeface="Calibri"/>
              </a:rPr>
              <a:t>Target Markets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29"/>
          <p:cNvSpPr/>
          <p:nvPr/>
        </p:nvSpPr>
        <p:spPr>
          <a:xfrm>
            <a:off x="6035040" y="171900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→  AI Copilot / Assistant startups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0"/>
          <p:cNvSpPr/>
          <p:nvPr/>
        </p:nvSpPr>
        <p:spPr>
          <a:xfrm>
            <a:off x="6035040" y="202068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→  Customer service AI platforms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31"/>
          <p:cNvSpPr/>
          <p:nvPr/>
        </p:nvSpPr>
        <p:spPr>
          <a:xfrm>
            <a:off x="6035040" y="2322720"/>
            <a:ext cx="25599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4A3B8"/>
                </a:solidFill>
                <a:effectLst/>
                <a:uFillTx/>
                <a:latin typeface="Calibri"/>
              </a:rPr>
              <a:t>→  AI workflow automation (LLM-Zapier)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2"/>
          <p:cNvSpPr/>
          <p:nvPr/>
        </p:nvSpPr>
        <p:spPr>
          <a:xfrm>
            <a:off x="5897880" y="2907720"/>
            <a:ext cx="2809080" cy="2067840"/>
          </a:xfrm>
          <a:prstGeom prst="roundRect">
            <a:avLst>
              <a:gd name="adj" fmla="val 4831"/>
            </a:avLst>
          </a:prstGeom>
          <a:solidFill>
            <a:srgbClr val="111827"/>
          </a:solidFill>
          <a:ln w="12700">
            <a:solidFill>
              <a:srgbClr val="8B5CF6"/>
            </a:solidFill>
            <a:round/>
          </a:ln>
          <a:effectLst>
            <a:outerShdw blurRad="152280" dist="50402" dir="2700000" algn="bl" rotWithShape="0">
              <a:srgbClr val="000000">
                <a:alpha val="3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3"/>
          <p:cNvSpPr/>
          <p:nvPr/>
        </p:nvSpPr>
        <p:spPr>
          <a:xfrm>
            <a:off x="5989320" y="3017520"/>
            <a:ext cx="26056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8B5CF6"/>
                </a:solidFill>
                <a:effectLst/>
                <a:uFillTx/>
                <a:latin typeface="Calibri"/>
              </a:rPr>
              <a:t>Scaling Levers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4"/>
          <p:cNvSpPr/>
          <p:nvPr/>
        </p:nvSpPr>
        <p:spPr>
          <a:xfrm>
            <a:off x="6035040" y="340164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More topologies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5"/>
          <p:cNvSpPr/>
          <p:nvPr/>
        </p:nvSpPr>
        <p:spPr>
          <a:xfrm>
            <a:off x="6035040" y="358452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Graph agents, parallel pipelines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36"/>
          <p:cNvSpPr/>
          <p:nvPr/>
        </p:nvSpPr>
        <p:spPr>
          <a:xfrm>
            <a:off x="6035040" y="379476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More LLMs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37"/>
          <p:cNvSpPr/>
          <p:nvPr/>
        </p:nvSpPr>
        <p:spPr>
          <a:xfrm>
            <a:off x="6035040" y="397764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GPT-4o, Claude 3, Gemini benchmarks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38"/>
          <p:cNvSpPr/>
          <p:nvPr/>
        </p:nvSpPr>
        <p:spPr>
          <a:xfrm>
            <a:off x="6035040" y="418788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Vector embeddings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9"/>
          <p:cNvSpPr/>
          <p:nvPr/>
        </p:nvSpPr>
        <p:spPr>
          <a:xfrm>
            <a:off x="6035040" y="437076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Semantic attack similarity search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40"/>
          <p:cNvSpPr/>
          <p:nvPr/>
        </p:nvSpPr>
        <p:spPr>
          <a:xfrm>
            <a:off x="6035040" y="458100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8FAFC"/>
                </a:solidFill>
                <a:effectLst/>
                <a:uFillTx/>
                <a:latin typeface="Calibri"/>
              </a:rPr>
              <a:t>Online learning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41"/>
          <p:cNvSpPr/>
          <p:nvPr/>
        </p:nvSpPr>
        <p:spPr>
          <a:xfrm>
            <a:off x="6035040" y="4763880"/>
            <a:ext cx="2559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75569"/>
                </a:solidFill>
                <a:effectLst/>
                <a:uFillTx/>
                <a:latin typeface="Calibri"/>
              </a:rPr>
              <a:t>Model updates as new attacks discovered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0</Words>
  <Application>Microsoft Office PowerPoint</Application>
  <PresentationFormat>On-screen Show (16:9)</PresentationFormat>
  <Paragraphs>0</Paragraphs>
  <Slides>5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ReconMind — Agentic AI Security Platform</dc:title>
  <dc:subject>PptxGenJS Presentation</dc:subject>
  <dc:creator>Blockhoppers</dc:creator>
  <dc:description/>
  <cp:lastModifiedBy>Manan Singhal</cp:lastModifiedBy>
  <cp:revision>4</cp:revision>
  <dcterms:created xsi:type="dcterms:W3CDTF">2026-07-05T21:40:34Z</dcterms:created>
  <dcterms:modified xsi:type="dcterms:W3CDTF">2026-07-06T04:46:37Z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5</vt:i4>
  </property>
  <property fmtid="{D5CDD505-2E9C-101B-9397-08002B2CF9AE}" pid="3" name="PresentationFormat">
    <vt:lpwstr>On-screen Show (16:9)</vt:lpwstr>
  </property>
  <property fmtid="{D5CDD505-2E9C-101B-9397-08002B2CF9AE}" pid="4" name="Slides">
    <vt:i4>5</vt:i4>
  </property>
</Properties>
</file>