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0B981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6B6D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B5CF6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000" b="1" u="none" strike="noStrike">
                    <a:solidFill>
                      <a:srgbClr val="F8FAFC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Binary F1</c:v>
                </c:pt>
                <c:pt idx="1">
                  <c:v>Outcome F1</c:v>
                </c:pt>
                <c:pt idx="2">
                  <c:v>Type F1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0.9804</c:v>
                </c:pt>
                <c:pt idx="1">
                  <c:v>0.9809</c:v>
                </c:pt>
                <c:pt idx="2">
                  <c:v>0.7864</c:v>
                </c:pt>
              </c:numCache>
            </c:numRef>
          </c:val>
        </c:ser>
        <c:gapWidth val="150"/>
        <c:overlap val="0"/>
        <c:axId val="22958190"/>
        <c:axId val="65378035"/>
      </c:barChart>
      <c:catAx>
        <c:axId val="2295819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65378035"/>
        <c:crosses val="autoZero"/>
        <c:auto val="1"/>
        <c:lblAlgn val="ctr"/>
        <c:lblOffset val="100"/>
        <c:noMultiLvlLbl val="0"/>
      </c:catAx>
      <c:valAx>
        <c:axId val="65378035"/>
        <c:scaling>
          <c:orientation val="minMax"/>
          <c:max val="1"/>
          <c:min val="0"/>
        </c:scaling>
        <c:delete val="0"/>
        <c:axPos val="l"/>
        <c:majorGridlines>
          <c:spPr>
            <a:ln w="6480">
              <a:solidFill>
                <a:srgbClr val="475569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2295819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11827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657A4E-CED0-4C92-B22D-CEF7BE3723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slide. Introduce ReconMind as a platform that automatically attacks, labels, and learns from agentic AI system behavior. Key stat: 0.98 F1 for attack detection.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BF6015-635F-4086-B4B8-5FAE21B05C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paper briefly. The key insight: prior work either lacks automation, lacks behavioral ground truth, or doesn't model multi-agent pipelines. We found and fixed all three.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859F7-9E54-4C36-BA48-ED9D82F515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each layer: the target platform is a real LangGraph pipeline. The attack framework automatically injects 4 attack types. The oracle labels by behavior. The BiLSTM trains on those behavioral labels.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EE3DD-9CDC-4A75-99AD-7E78848122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Type F1 of 0.7864 is the honest number — we caught a 1.0 score from payload leakage and fixed it. The critical finding about mode-conditioned labeling is the research contribution. Explain the orange scenario.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92448-1757-4264-B327-B5DED6A402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Phase 1 is actionable today — reach out to 3-5 AI startups with the free audit offer. The pitch is simple: we attack your system, you see the report, you decide if you need ongoing monitoring.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7F4458-E597-4A38-AA4D-7D86C3CD2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-1371600"/>
            <a:ext cx="6400440" cy="6400440"/>
          </a:xfrm>
          <a:prstGeom prst="ellipse">
            <a:avLst/>
          </a:prstGeom>
          <a:solidFill>
            <a:srgbClr val="1E2761">
              <a:alpha val="25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457200"/>
            <a:ext cx="3657240" cy="365724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502920" y="45720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1188720" y="5029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BLOCKHOPPERS  ·  TIET </a:t>
            </a:r>
            <a:r>
              <a:rPr lang="en-US" sz="10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PATIALA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143360"/>
            <a:ext cx="5029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Automated </a:t>
            </a: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Attack-Defense </a:t>
            </a: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Evaluation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for Agentic AI </a:t>
            </a: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Systems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2057400"/>
            <a:ext cx="5212080" cy="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439992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End-to-End Agentic AI Security Platform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66120" y="2286000"/>
            <a:ext cx="1919880" cy="6397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6120" y="2332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0.98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6612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Binary F1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2514600" y="2267640"/>
            <a:ext cx="1919880" cy="6397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2514600" y="2332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510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51460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Runs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7315200" y="91440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315200" y="105156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User Input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15120" y="150876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7315200" y="173736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315200" y="187452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Intake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8115120" y="233172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315200" y="256032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315200" y="269748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Retrieval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115120" y="315468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7315200" y="338328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7315200" y="352044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Action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7132320" y="5943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pc="99" strike="noStrike">
                <a:solidFill>
                  <a:srgbClr val="475569"/>
                </a:solidFill>
                <a:effectLst/>
                <a:uFillTx/>
                <a:latin typeface="Calibri"/>
              </a:rPr>
              <a:t>Attack Pipeline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251496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Runs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1"/>
          <p:cNvSpPr/>
          <p:nvPr/>
        </p:nvSpPr>
        <p:spPr>
          <a:xfrm>
            <a:off x="468720" y="463968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2"/>
          <p:cNvSpPr/>
          <p:nvPr/>
        </p:nvSpPr>
        <p:spPr>
          <a:xfrm>
            <a:off x="468360" y="3749400"/>
            <a:ext cx="494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Direct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Prompt Injection          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Indirect Prompt Injection            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Memory Poisoning Tool Misuse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</a:rPr>
              <a:t>Privilege Escalation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3"/>
          <p:cNvSpPr/>
          <p:nvPr/>
        </p:nvSpPr>
        <p:spPr>
          <a:xfrm>
            <a:off x="469080" y="464004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4"/>
          <p:cNvSpPr/>
          <p:nvPr/>
        </p:nvSpPr>
        <p:spPr>
          <a:xfrm>
            <a:off x="469080" y="464004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274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MOTIVATION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54864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Why Existing Security Tools Fail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for Agentic AI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57200" y="169164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640080" y="17647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AgentSentry (2024)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640080" y="20206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Proposes LLM-as-judge defense for prompt injection. No automated evaluation framework. Tested on 3 hand-crafted examples.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640080" y="236844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640080" y="23684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scalable dataset generation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457200" y="274320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40080" y="28162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IPIGuard (2024)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40080" y="3072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Heuristic pattern filter for indirect injection. Brittle against paraphrased attacks. Evaluated only in static settings.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40080" y="342000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40080" y="342000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behavioral ground truth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457200" y="379476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640080" y="38678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InjectBench (2023)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640080" y="41238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Benchmark for single-turn prompt injection. Does not model multi-hop agent pipelines or memory poisoning vectors.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40080" y="447156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40080" y="44715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multi-agent topology support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5669280" y="1600200"/>
            <a:ext cx="3017160" cy="3200040"/>
          </a:xfrm>
          <a:prstGeom prst="roundRect">
            <a:avLst>
              <a:gd name="adj" fmla="val 3030"/>
            </a:avLst>
          </a:prstGeom>
          <a:solidFill>
            <a:srgbClr val="1A2235"/>
          </a:solidFill>
          <a:ln w="12700">
            <a:solidFill>
              <a:srgbClr val="2563EB"/>
            </a:solidFill>
            <a:round/>
          </a:ln>
          <a:effectLst>
            <a:outerShdw algn="bl" blurRad="152280" dir="2700000" dist="50402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5760720" y="17190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Gap We Found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5806440" y="230436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5806440" y="23043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6144840" y="226764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 automated multi-agent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framework exists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5806440" y="296280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580644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14484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Ground truth labeling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requires manual effort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5806440" y="362088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806440" y="36208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6144840" y="35845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Mode-conditioned bias: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labeling by intent not behavior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5806440" y="427932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5806440" y="42793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6144840" y="42429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 behavioral ML detector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trained on execution traces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ARCHITECTURE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Three-</a:t>
            </a: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Layer </a:t>
            </a: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Platfo</a:t>
            </a: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rm </a:t>
            </a: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Desig</a:t>
            </a: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457200" y="11703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06B6D4"/>
                </a:solidFill>
                <a:effectLst/>
                <a:uFillTx/>
                <a:latin typeface="Calibri"/>
              </a:rPr>
              <a:t>LAYER 1 — TARGET PLATFORM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45720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2563E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5720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Intake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162756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178308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178308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Retrieval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295344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310896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F97316">
              <a:alpha val="28000"/>
            </a:srgbClr>
          </a:solidFill>
          <a:ln w="12700">
            <a:solidFill>
              <a:srgbClr val="F97316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310896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427932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43484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43484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Memory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Store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57200" y="24231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EF4444"/>
                </a:solidFill>
                <a:effectLst/>
                <a:uFillTx/>
                <a:latin typeface="Calibri"/>
              </a:rPr>
              <a:t>LAYER 2 — ATTACK FRAMEWORK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45720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5720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Direct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Injection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178308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178308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Indirect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Injection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310896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310896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Memory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Poisoning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443484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443484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Tool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Misuse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3"/>
          <p:cNvSpPr/>
          <p:nvPr/>
        </p:nvSpPr>
        <p:spPr>
          <a:xfrm>
            <a:off x="2779560" y="2258280"/>
            <a:ext cx="360" cy="466560"/>
          </a:xfrm>
          <a:prstGeom prst="line">
            <a:avLst/>
          </a:prstGeom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2103120" y="23317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injects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457200" y="36576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8B5CF6"/>
                </a:solidFill>
                <a:effectLst/>
                <a:uFillTx/>
                <a:latin typeface="Calibri"/>
              </a:rPr>
              <a:t>LAYER 3 — </a:t>
            </a:r>
            <a:r>
              <a:rPr lang="en-US" sz="800" b="1" u="none" spc="201" strike="noStrike">
                <a:solidFill>
                  <a:srgbClr val="8B5CF6"/>
                </a:solidFill>
                <a:effectLst/>
                <a:uFillTx/>
                <a:latin typeface="Calibri"/>
              </a:rPr>
              <a:t>VERIFICATION &amp; ML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6"/>
          <p:cNvSpPr/>
          <p:nvPr/>
        </p:nvSpPr>
        <p:spPr>
          <a:xfrm>
            <a:off x="45720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45720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3-Tier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Oracle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162756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178308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2563E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178308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Labeled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Dataset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1"/>
          <p:cNvSpPr/>
          <p:nvPr/>
        </p:nvSpPr>
        <p:spPr>
          <a:xfrm>
            <a:off x="295344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310896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310896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BiLSTM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4"/>
          <p:cNvSpPr/>
          <p:nvPr/>
        </p:nvSpPr>
        <p:spPr>
          <a:xfrm>
            <a:off x="427932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5"/>
          <p:cNvSpPr/>
          <p:nvPr/>
        </p:nvSpPr>
        <p:spPr>
          <a:xfrm>
            <a:off x="443484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6"/>
          <p:cNvSpPr/>
          <p:nvPr/>
        </p:nvSpPr>
        <p:spPr>
          <a:xfrm>
            <a:off x="443484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Predictor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7"/>
          <p:cNvSpPr/>
          <p:nvPr/>
        </p:nvSpPr>
        <p:spPr>
          <a:xfrm>
            <a:off x="1042200" y="3502080"/>
            <a:ext cx="360" cy="447840"/>
          </a:xfrm>
          <a:prstGeom prst="line">
            <a:avLst/>
          </a:prstGeom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8"/>
          <p:cNvSpPr/>
          <p:nvPr/>
        </p:nvSpPr>
        <p:spPr>
          <a:xfrm>
            <a:off x="365760" y="3557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traces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9"/>
          <p:cNvSpPr/>
          <p:nvPr/>
        </p:nvSpPr>
        <p:spPr>
          <a:xfrm>
            <a:off x="5943600" y="1170360"/>
            <a:ext cx="2788560" cy="365724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algn="bl" blurRad="152280" dir="2700000" dist="50402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0"/>
          <p:cNvSpPr/>
          <p:nvPr/>
        </p:nvSpPr>
        <p:spPr>
          <a:xfrm>
            <a:off x="6035040" y="12985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Key Design Decisions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6126480" y="1755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Behavioral Oracle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2"/>
          <p:cNvSpPr/>
          <p:nvPr/>
        </p:nvSpPr>
        <p:spPr>
          <a:xfrm>
            <a:off x="6126480" y="197496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Labels from agent actions, not submission mode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6126480" y="2331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3-Tier Verification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6126480" y="2551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Rule → Memory diff → LLM judge fallback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6126480" y="2907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Leakage-Free Training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6"/>
          <p:cNvSpPr/>
          <p:nvPr/>
        </p:nvSpPr>
        <p:spPr>
          <a:xfrm>
            <a:off x="6126480" y="3127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Output-only embeddings, not raw payloads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7"/>
          <p:cNvSpPr/>
          <p:nvPr/>
        </p:nvSpPr>
        <p:spPr>
          <a:xfrm>
            <a:off x="6126480" y="3483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Multi-Task Learning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8"/>
          <p:cNvSpPr/>
          <p:nvPr/>
        </p:nvSpPr>
        <p:spPr>
          <a:xfrm>
            <a:off x="6126480" y="3703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Binary + Outcome + Type in one model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9"/>
          <p:cNvSpPr/>
          <p:nvPr/>
        </p:nvSpPr>
        <p:spPr>
          <a:xfrm>
            <a:off x="6126480" y="40600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Diverse Payloads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0"/>
          <p:cNvSpPr/>
          <p:nvPr/>
        </p:nvSpPr>
        <p:spPr>
          <a:xfrm>
            <a:off x="6126480" y="4279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60 benign prompts × 5 payload variants each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RESULTS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Model Performance &amp; Critical Finding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711840" y="1234440"/>
            <a:ext cx="1828440" cy="118836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6711840" y="13258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B5CF6"/>
                </a:solidFill>
                <a:effectLst/>
                <a:uFillTx/>
                <a:latin typeface="Cambria"/>
                <a:ea typeface="Cambria"/>
              </a:rPr>
              <a:t>0.7864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711840" y="18561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Type F1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6711840" y="21031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Genuine generalization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Chart 0"/>
          <p:cNvGraphicFramePr/>
          <p:nvPr/>
        </p:nvGraphicFramePr>
        <p:xfrm>
          <a:off x="228960" y="2971800"/>
          <a:ext cx="4571640" cy="205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9" name="Text 18"/>
          <p:cNvSpPr/>
          <p:nvPr/>
        </p:nvSpPr>
        <p:spPr>
          <a:xfrm>
            <a:off x="457200" y="4572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Model F1 Scores (Test Set)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5257800" y="1234800"/>
            <a:ext cx="3337200" cy="3565800"/>
          </a:xfrm>
          <a:prstGeom prst="roundRect">
            <a:avLst>
              <a:gd name="adj" fmla="val 2740"/>
            </a:avLst>
          </a:prstGeom>
          <a:solidFill>
            <a:srgbClr val="1A2235"/>
          </a:solidFill>
          <a:ln w="12700">
            <a:solidFill>
              <a:srgbClr val="F97316"/>
            </a:solidFill>
            <a:round/>
          </a:ln>
          <a:effectLst>
            <a:outerShdw algn="bl" blurRad="152280" dir="2700000" dist="50402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5440680" y="13532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⚡  Critical Discovery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5440680" y="1719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Mode-Conditioned Labeling Bias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5440680" y="2084760"/>
            <a:ext cx="3154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discovered that labeling runs by </a:t>
            </a: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submission mode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(not observed behavior) creates a systematic blind spot.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real attacker submits through clean traffic. The oracle said </a:t>
            </a:r>
            <a:r>
              <a:rPr lang="en-US" sz="9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CLEAN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. The ML model said </a:t>
            </a:r>
            <a:r>
              <a:rPr lang="en-US" sz="9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CLEAN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. But </a:t>
            </a: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escalate_to_admin was called.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7017840" y="3547800"/>
            <a:ext cx="360" cy="274320"/>
          </a:xfrm>
          <a:prstGeom prst="line">
            <a:avLst/>
          </a:prstGeom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5440680" y="384048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FIX: Behavioral Oracle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5440680" y="4114800"/>
            <a:ext cx="3154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Run verification on EVERY execution.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 by what the agent DID, not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how the request was submitted.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6858000" y="2286000"/>
            <a:ext cx="4571640" cy="4571640"/>
          </a:xfrm>
          <a:prstGeom prst="ellipse">
            <a:avLst/>
          </a:prstGeom>
          <a:solidFill>
            <a:srgbClr val="1E2761">
              <a:alpha val="2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6B6D4"/>
                </a:solidFill>
                <a:effectLst/>
                <a:uFillTx/>
                <a:latin typeface="Calibri"/>
              </a:rPr>
              <a:t>ROADMAP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Deployment &amp; Scaling Vision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457200" y="123444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10B981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67000" y="132588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67000" y="13258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1 — NOW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2030040" y="1325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Consulting &amp; Audit Service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640080" y="1654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Deploy against any agentic AI pipeline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640080" y="19112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Run 200+ automated attack campaigns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2926080" y="165492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Deliver PDF security audit report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2926080" y="19112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Risk score + remediation recommendations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57200" y="246888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2563E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567000" y="256032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567000" y="2560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2 — 3 Months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2030040" y="25603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SaaS Platform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640080" y="28893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Self-serve attack campaign dashboard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40080" y="314568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Continuous monitoring via API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2926080" y="288936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Quarterly re-audit subscriptions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2926080" y="314568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Custom attack type library per client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457200" y="370332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567000" y="379476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67000" y="37947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3 — 12 Months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2030040" y="379476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Enterprise + Research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640080" y="41238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Multi-topology graph agent support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640080" y="43801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Cross-LLM benchmarking (GPT-4, Claude)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2926080" y="41238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Real-time blocking defense layer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2926080" y="438012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Published benchmark &amp; open dataset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5897880" y="1234440"/>
            <a:ext cx="2788560" cy="157248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06B6D4"/>
            </a:solidFill>
            <a:round/>
          </a:ln>
          <a:effectLst>
            <a:outerShdw algn="bl" blurRad="152280" dir="2700000" dist="50402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8"/>
          <p:cNvSpPr/>
          <p:nvPr/>
        </p:nvSpPr>
        <p:spPr>
          <a:xfrm>
            <a:off x="5989320" y="13532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Target Markets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6035040" y="1719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AI Copilot / Assistant startups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6035040" y="2020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Customer service AI platforms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6035040" y="2322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AI workflow automation (LLM-Zapier)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2"/>
          <p:cNvSpPr/>
          <p:nvPr/>
        </p:nvSpPr>
        <p:spPr>
          <a:xfrm>
            <a:off x="5897880" y="2907720"/>
            <a:ext cx="2809080" cy="2067840"/>
          </a:xfrm>
          <a:prstGeom prst="roundRect">
            <a:avLst>
              <a:gd name="adj" fmla="val 4831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algn="bl" blurRad="152280" dir="2700000" dist="50402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3"/>
          <p:cNvSpPr/>
          <p:nvPr/>
        </p:nvSpPr>
        <p:spPr>
          <a:xfrm>
            <a:off x="5989320" y="30175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Scaling Levers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4"/>
          <p:cNvSpPr/>
          <p:nvPr/>
        </p:nvSpPr>
        <p:spPr>
          <a:xfrm>
            <a:off x="6035040" y="34016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More topologies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5"/>
          <p:cNvSpPr/>
          <p:nvPr/>
        </p:nvSpPr>
        <p:spPr>
          <a:xfrm>
            <a:off x="6035040" y="3584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Graph agents, parallel pipelines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6"/>
          <p:cNvSpPr/>
          <p:nvPr/>
        </p:nvSpPr>
        <p:spPr>
          <a:xfrm>
            <a:off x="6035040" y="37947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More LLMs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7"/>
          <p:cNvSpPr/>
          <p:nvPr/>
        </p:nvSpPr>
        <p:spPr>
          <a:xfrm>
            <a:off x="6035040" y="39776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GPT-4o, Claude 3, Gemini benchmarks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8"/>
          <p:cNvSpPr/>
          <p:nvPr/>
        </p:nvSpPr>
        <p:spPr>
          <a:xfrm>
            <a:off x="6035040" y="418788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Vector embeddings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9"/>
          <p:cNvSpPr/>
          <p:nvPr/>
        </p:nvSpPr>
        <p:spPr>
          <a:xfrm>
            <a:off x="6035040" y="437076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Semantic attack similarity search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0"/>
          <p:cNvSpPr/>
          <p:nvPr/>
        </p:nvSpPr>
        <p:spPr>
          <a:xfrm>
            <a:off x="6035040" y="458100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Online learning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1"/>
          <p:cNvSpPr/>
          <p:nvPr/>
        </p:nvSpPr>
        <p:spPr>
          <a:xfrm>
            <a:off x="6035040" y="476388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Model updates as new attacks discovered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LibreOffice/26.2.4.2$Linux_X86_64 LibreOffice_project/df4f15f06f7b375c1d16aa35fba92d50b262cd01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2026-07-05T21:40:34Z</dcterms:created>
  <dc:creator>Blockhoppers</dc:creator>
  <dc:description/>
  <dc:language>en-US</dc:language>
  <cp:lastModifiedBy/>
  <dcterms:modified xsi:type="dcterms:W3CDTF">2026-07-06T04:33:03Z</dcterms:modified>
  <cp:revision>2</cp:revision>
  <dc:subject>PptxGenJS Presentation</dc:subject>
  <dc:title>ReconMind — Agentic AI Security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